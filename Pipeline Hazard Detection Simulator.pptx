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000"/>
    <a:srgbClr val="EACECE"/>
    <a:srgbClr val="C37373"/>
    <a:srgbClr val="CC9B00"/>
    <a:srgbClr val="1F1F1F"/>
    <a:srgbClr val="FEC200"/>
    <a:srgbClr val="FFE9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ica Webb" userId="bd7272f0-b703-4632-9567-967c824d1281" providerId="ADAL" clId="{0A9A18DE-1035-4C1B-9238-FB4E5EAF1F5F}"/>
    <pc:docChg chg="modSld">
      <pc:chgData name="Jessica Webb" userId="bd7272f0-b703-4632-9567-967c824d1281" providerId="ADAL" clId="{0A9A18DE-1035-4C1B-9238-FB4E5EAF1F5F}" dt="2026-05-04T19:23:16.737" v="0" actId="20577"/>
      <pc:docMkLst>
        <pc:docMk/>
      </pc:docMkLst>
      <pc:sldChg chg="modSp mod">
        <pc:chgData name="Jessica Webb" userId="bd7272f0-b703-4632-9567-967c824d1281" providerId="ADAL" clId="{0A9A18DE-1035-4C1B-9238-FB4E5EAF1F5F}" dt="2026-05-04T19:23:16.737" v="0" actId="20577"/>
        <pc:sldMkLst>
          <pc:docMk/>
          <pc:sldMk cId="2423622404" sldId="258"/>
        </pc:sldMkLst>
        <pc:spChg chg="mod">
          <ac:chgData name="Jessica Webb" userId="bd7272f0-b703-4632-9567-967c824d1281" providerId="ADAL" clId="{0A9A18DE-1035-4C1B-9238-FB4E5EAF1F5F}" dt="2026-05-04T19:23:16.737" v="0" actId="20577"/>
          <ac:spMkLst>
            <pc:docMk/>
            <pc:sldMk cId="2423622404" sldId="258"/>
            <ac:spMk id="11" creationId="{DFBAAAF7-5A7B-E4F9-AE76-10B5859790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1202-309B-1F5E-06E2-9B03E516C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418B5-FFD8-C8C2-24E6-35B69E8B1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297C3-206F-3378-FEAA-7972C3AE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BF40E-8003-CA3C-9927-982930C23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F2301-2C84-A3E9-55F0-00219292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4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DDCE-0628-676A-7E36-3131F99C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B3FD5-D7F7-5C79-3F34-A16A1CF03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07557-0A28-3657-F629-3101D7B52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E046E-C452-CA75-5C46-BF91541B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B6B58-469D-F88E-0BE0-8DE998A5F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08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9474-E010-EEF7-AB7B-57AC8665D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10944-1BD4-15CC-5158-ADBF8657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BA28-92C5-B64F-1D8D-7DEFA4B5E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D563C-A441-04E8-12E1-E946CFD3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22C11-B873-EB0E-85D7-533DE2AF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22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A702-BC42-787D-352D-0921F14D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4B336-C979-DCAA-945B-23D1CE4E2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F8E12-9347-3890-55DB-CCC3B526D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EA0CB-BBF4-5DDE-5F39-F917ED29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371B8-F9EB-A286-2D94-1833C81F7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55FFA-C57C-9972-D5C1-919447014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81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6719-8DEE-2D97-4590-4A82FF343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C793E-20E0-95AE-E69A-E9F090C62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E5B81-FB5F-5688-63E2-16585EC44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85761A-FCA7-8FD2-9653-BD3874BB5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2EAC6-46FB-076B-69B0-01E378077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EBFB3-0CF8-383D-76FE-1FB5816A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A27B8-DC40-CE1E-8A02-0C41BF71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7CDC7-DDD8-4457-E66C-186BAB9B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45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28FC-0860-7F83-4A4A-AA017BA9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B0051-81C8-4166-88D3-F75B2C2F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BE4C3-BC63-8C5A-133D-EEC2E92F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62E6C-0CD9-CC02-9FA9-204155CA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276FF-C4BF-594F-4B1F-016E449EF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CD6584-5A0E-3E72-00D4-88B30917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ADFF0-1BB7-228A-02C6-A3D6164DB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02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3F4A-5978-71FC-F4FF-CD82F3B66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42B4B-2FB4-75BA-2EA9-8B3504D63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CA9EA-2D00-0355-B001-8F9E4F3CF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1A3FA-FE09-2649-EE8D-F2FF80E21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E1277-A9A1-7208-3EF1-3370C2159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A20D1-DC06-EE61-A186-A8CB2FD2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0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CECB-8172-59EE-1880-333963EF5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8BFA93-3F8F-ECD7-4DB6-66BF64DEB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2CF6C-D77F-30C7-E529-C4A972166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D8DC7-CAE7-4C13-B9A1-32F85EDE4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579B8-CA85-E2B9-BD4D-03BDC15C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BA62E-4FBF-F0DE-8559-93642D10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2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9C12C-A844-B2F3-AC63-7E9A12DE6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099FA-B00B-5177-1DC1-E819583A6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12029-F9BE-2842-00D9-4E0CCA4A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9E926-32F9-FB1A-A5A2-A03CDA31B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5B96-E520-09BF-0076-79C81AAD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54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4ADBC5-75A2-85E2-8258-2AFB6D338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2063A-3A79-9D2A-F3D9-92FFF5359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D77C7-5063-09A5-CE44-8D82233A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641FD-827B-7D89-F2E2-0F862635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29DCF-9197-4628-3702-60656C761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01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337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69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016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90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09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05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366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52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48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99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47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A3F4A-0211-C248-BEA3-07F8E1B2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DEB88-9EE1-3F78-7E7A-CAC2A98E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466BB-F93B-37AA-6E73-3B168A2EB6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7B8A-6A29-C8DE-A278-5612BA28A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AE19D-CC74-029A-807A-B4696AB70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4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B7C4639-945F-4B68-B1C3-87B1F9A5180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E123440-21B0-492E-921B-F29521DE0CF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40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8643E-9C92-6CCC-1B5F-BF527202F0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Pipeline Hazard Detection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675C5-53BA-0428-6366-343B22C03B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CS 4200 – Computer Architecture</a:t>
            </a:r>
          </a:p>
          <a:p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Jessica Webb</a:t>
            </a:r>
          </a:p>
        </p:txBody>
      </p:sp>
    </p:spTree>
    <p:extLst>
      <p:ext uri="{BB962C8B-B14F-4D97-AF65-F5344CB8AC3E}">
        <p14:creationId xmlns:p14="http://schemas.microsoft.com/office/powerpoint/2010/main" val="2700563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B471FC-C70E-AE31-7C66-45D729D1B36F}"/>
              </a:ext>
            </a:extLst>
          </p:cNvPr>
          <p:cNvSpPr/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6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75DD4-ACF5-11D1-4B8E-AC682E0587E9}"/>
              </a:ext>
            </a:extLst>
          </p:cNvPr>
          <p:cNvSpPr txBox="1"/>
          <p:nvPr/>
        </p:nvSpPr>
        <p:spPr>
          <a:xfrm>
            <a:off x="342900" y="112782"/>
            <a:ext cx="6572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Topic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1A6C6A-203E-89ED-872D-792FD3EBB15C}"/>
              </a:ext>
            </a:extLst>
          </p:cNvPr>
          <p:cNvSpPr/>
          <p:nvPr/>
        </p:nvSpPr>
        <p:spPr>
          <a:xfrm>
            <a:off x="533400" y="1428750"/>
            <a:ext cx="5334000" cy="4591050"/>
          </a:xfrm>
          <a:prstGeom prst="rect">
            <a:avLst/>
          </a:prstGeom>
          <a:solidFill>
            <a:schemeClr val="bg2">
              <a:lumMod val="90000"/>
              <a:alpha val="4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12479-8316-C31E-B44F-6591B87E5FB1}"/>
              </a:ext>
            </a:extLst>
          </p:cNvPr>
          <p:cNvSpPr txBox="1"/>
          <p:nvPr/>
        </p:nvSpPr>
        <p:spPr>
          <a:xfrm>
            <a:off x="800100" y="1657350"/>
            <a:ext cx="37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Does It Simulate?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0AF86A-8212-2C28-E3BC-E9627A9AE56E}"/>
              </a:ext>
            </a:extLst>
          </p:cNvPr>
          <p:cNvSpPr txBox="1"/>
          <p:nvPr/>
        </p:nvSpPr>
        <p:spPr>
          <a:xfrm>
            <a:off x="800100" y="2343150"/>
            <a:ext cx="4191000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5 Stage RISC-V Pipeline: IF, ID, EX, MEM, WB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RAW (Read-After-Write) data hazards between instructions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Stall insertion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Freezes IF/ID, inserts NOP bubble into EX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Cycle-by-cycle pipeline table 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6F12A5-7E97-E202-87F4-A4199B9C69D6}"/>
              </a:ext>
            </a:extLst>
          </p:cNvPr>
          <p:cNvSpPr/>
          <p:nvPr/>
        </p:nvSpPr>
        <p:spPr>
          <a:xfrm>
            <a:off x="6324602" y="1428750"/>
            <a:ext cx="5334000" cy="4591050"/>
          </a:xfrm>
          <a:prstGeom prst="rect">
            <a:avLst/>
          </a:prstGeom>
          <a:solidFill>
            <a:srgbClr val="C37373">
              <a:alpha val="33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97836-08BE-4056-3E46-895A43C62E0A}"/>
              </a:ext>
            </a:extLst>
          </p:cNvPr>
          <p:cNvSpPr txBox="1"/>
          <p:nvPr/>
        </p:nvSpPr>
        <p:spPr>
          <a:xfrm>
            <a:off x="6915150" y="1657349"/>
            <a:ext cx="377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600000"/>
                </a:solidFill>
              </a:rPr>
              <a:t>Why Does It Matter?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0AA78-6064-25CF-A2F8-E724580C97B2}"/>
              </a:ext>
            </a:extLst>
          </p:cNvPr>
          <p:cNvSpPr txBox="1"/>
          <p:nvPr/>
        </p:nvSpPr>
        <p:spPr>
          <a:xfrm>
            <a:off x="6705600" y="2228850"/>
            <a:ext cx="4191000" cy="3376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Hazards cause the CPU to waste cycles, increasing CPI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Shows how dependent instructions impact real performance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Demonstrates the cost of forwarding not being interpreted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Compares hazard-free vs. hazard heavy programs</a:t>
            </a:r>
          </a:p>
        </p:txBody>
      </p:sp>
    </p:spTree>
    <p:extLst>
      <p:ext uri="{BB962C8B-B14F-4D97-AF65-F5344CB8AC3E}">
        <p14:creationId xmlns:p14="http://schemas.microsoft.com/office/powerpoint/2010/main" val="27207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61A6-AC90-46B4-5102-831005BA3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09111C-FA44-7805-88D7-1D7E7FD351C2}"/>
              </a:ext>
            </a:extLst>
          </p:cNvPr>
          <p:cNvSpPr/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6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E0D14-A6AD-75A2-B8A3-E468EAA32D6E}"/>
              </a:ext>
            </a:extLst>
          </p:cNvPr>
          <p:cNvSpPr txBox="1"/>
          <p:nvPr/>
        </p:nvSpPr>
        <p:spPr>
          <a:xfrm>
            <a:off x="342900" y="112782"/>
            <a:ext cx="6572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Code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B56E86-BD33-B7F8-72FD-9AAC571FD931}"/>
              </a:ext>
            </a:extLst>
          </p:cNvPr>
          <p:cNvSpPr/>
          <p:nvPr/>
        </p:nvSpPr>
        <p:spPr>
          <a:xfrm>
            <a:off x="342900" y="1504950"/>
            <a:ext cx="3638550" cy="4552950"/>
          </a:xfrm>
          <a:prstGeom prst="rect">
            <a:avLst/>
          </a:prstGeom>
          <a:solidFill>
            <a:srgbClr val="C37373">
              <a:alpha val="5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5600DD-498C-CEB6-E541-F2B036078C06}"/>
              </a:ext>
            </a:extLst>
          </p:cNvPr>
          <p:cNvSpPr/>
          <p:nvPr/>
        </p:nvSpPr>
        <p:spPr>
          <a:xfrm>
            <a:off x="4276725" y="1504950"/>
            <a:ext cx="3638550" cy="4552950"/>
          </a:xfrm>
          <a:prstGeom prst="rect">
            <a:avLst/>
          </a:prstGeom>
          <a:solidFill>
            <a:srgbClr val="FFE9A3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787A5F-867B-D075-178C-798D2F087502}"/>
              </a:ext>
            </a:extLst>
          </p:cNvPr>
          <p:cNvSpPr/>
          <p:nvPr/>
        </p:nvSpPr>
        <p:spPr>
          <a:xfrm>
            <a:off x="8210550" y="1504950"/>
            <a:ext cx="3638550" cy="4552950"/>
          </a:xfrm>
          <a:prstGeom prst="rect">
            <a:avLst/>
          </a:prstGeom>
          <a:solidFill>
            <a:schemeClr val="tx2">
              <a:lumMod val="10000"/>
              <a:lumOff val="90000"/>
              <a:alpha val="6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45095A-EBEC-0256-7CB1-6D8284E82823}"/>
              </a:ext>
            </a:extLst>
          </p:cNvPr>
          <p:cNvSpPr/>
          <p:nvPr/>
        </p:nvSpPr>
        <p:spPr>
          <a:xfrm>
            <a:off x="342900" y="1504950"/>
            <a:ext cx="3638550" cy="285750"/>
          </a:xfrm>
          <a:prstGeom prst="rect">
            <a:avLst/>
          </a:prstGeom>
          <a:solidFill>
            <a:srgbClr val="6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53B7AA-B73A-4549-FB0A-C1C00FE8C1E9}"/>
              </a:ext>
            </a:extLst>
          </p:cNvPr>
          <p:cNvSpPr/>
          <p:nvPr/>
        </p:nvSpPr>
        <p:spPr>
          <a:xfrm>
            <a:off x="4276725" y="1514475"/>
            <a:ext cx="3638550" cy="285750"/>
          </a:xfrm>
          <a:prstGeom prst="rect">
            <a:avLst/>
          </a:prstGeom>
          <a:solidFill>
            <a:srgbClr val="CC9B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4FF092-C33B-4D91-A7A2-5E2CD24AE638}"/>
              </a:ext>
            </a:extLst>
          </p:cNvPr>
          <p:cNvSpPr/>
          <p:nvPr/>
        </p:nvSpPr>
        <p:spPr>
          <a:xfrm>
            <a:off x="8210550" y="1514475"/>
            <a:ext cx="3638550" cy="2857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BAAAF7-5A7B-E4F9-AE76-10B5859790E2}"/>
              </a:ext>
            </a:extLst>
          </p:cNvPr>
          <p:cNvSpPr txBox="1"/>
          <p:nvPr/>
        </p:nvSpPr>
        <p:spPr>
          <a:xfrm>
            <a:off x="553508" y="1904999"/>
            <a:ext cx="321733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Instruction  Class</a:t>
            </a:r>
          </a:p>
          <a:p>
            <a:r>
              <a:rPr lang="en-US" sz="1400" b="1" i="1" dirty="0">
                <a:solidFill>
                  <a:srgbClr val="600000"/>
                </a:solidFill>
              </a:rPr>
              <a:t>parse() method</a:t>
            </a:r>
          </a:p>
          <a:p>
            <a:endParaRPr lang="en-US" dirty="0">
              <a:solidFill>
                <a:srgbClr val="6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Parse each line of RISC-V assembly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Identifies opcode, </a:t>
            </a:r>
            <a:r>
              <a:rPr lang="en-US" dirty="0" err="1"/>
              <a:t>dest</a:t>
            </a:r>
            <a:r>
              <a:rPr lang="en-US" dirty="0"/>
              <a:t> register (</a:t>
            </a:r>
            <a:r>
              <a:rPr lang="en-US" dirty="0" err="1"/>
              <a:t>rd</a:t>
            </a:r>
            <a:r>
              <a:rPr lang="en-US" dirty="0"/>
              <a:t>), and source registers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R-type, I-type, load</a:t>
            </a:r>
            <a:r>
              <a:rPr lang="en-US"/>
              <a:t>, store</a:t>
            </a:r>
            <a:r>
              <a:rPr lang="en-US" dirty="0"/>
              <a:t>, branch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2746AA-8140-2934-7258-20BD12BC00E4}"/>
              </a:ext>
            </a:extLst>
          </p:cNvPr>
          <p:cNvSpPr txBox="1"/>
          <p:nvPr/>
        </p:nvSpPr>
        <p:spPr>
          <a:xfrm>
            <a:off x="4487333" y="1904999"/>
            <a:ext cx="32173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has_raw_hazard</a:t>
            </a:r>
            <a:r>
              <a:rPr lang="en-US" sz="2000" b="1" dirty="0"/>
              <a:t>()</a:t>
            </a:r>
          </a:p>
          <a:p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Hazard Detection</a:t>
            </a:r>
          </a:p>
          <a:p>
            <a:endParaRPr lang="en-US" dirty="0">
              <a:solidFill>
                <a:srgbClr val="6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Checks ID-stage instruction against EX and MEM 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Flags if a source register matches a </a:t>
            </a:r>
            <a:r>
              <a:rPr lang="en-US" dirty="0" err="1"/>
              <a:t>dest</a:t>
            </a:r>
            <a:r>
              <a:rPr lang="en-US" dirty="0"/>
              <a:t> still in flight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Skips x0 (never a real hazard)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74F963-7CEF-EB7A-AFD1-BC170CBF7A17}"/>
              </a:ext>
            </a:extLst>
          </p:cNvPr>
          <p:cNvSpPr txBox="1"/>
          <p:nvPr/>
        </p:nvSpPr>
        <p:spPr>
          <a:xfrm>
            <a:off x="8421159" y="1904999"/>
            <a:ext cx="321733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run_pipeline</a:t>
            </a:r>
            <a:endParaRPr lang="en-US" sz="2000" b="1" dirty="0"/>
          </a:p>
          <a:p>
            <a:r>
              <a:rPr lang="en-US" sz="1400" b="1" i="1" dirty="0">
                <a:solidFill>
                  <a:schemeClr val="tx2"/>
                </a:solidFill>
              </a:rPr>
              <a:t>Simulation Engine</a:t>
            </a:r>
          </a:p>
          <a:p>
            <a:endParaRPr lang="en-US" dirty="0">
              <a:solidFill>
                <a:srgbClr val="6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Advances instructions through 5 pipeline register each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hazard: freezes IF/ID, inserts NOP into 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Tracks cycles, stalls, CPI, and full timeline</a:t>
            </a:r>
          </a:p>
        </p:txBody>
      </p:sp>
    </p:spTree>
    <p:extLst>
      <p:ext uri="{BB962C8B-B14F-4D97-AF65-F5344CB8AC3E}">
        <p14:creationId xmlns:p14="http://schemas.microsoft.com/office/powerpoint/2010/main" val="2423622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B19A-DB3E-8F8E-28EE-1A7E1B90A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9EE80AF-C72F-CB7D-B66F-34A06C7AB132}"/>
              </a:ext>
            </a:extLst>
          </p:cNvPr>
          <p:cNvSpPr/>
          <p:nvPr/>
        </p:nvSpPr>
        <p:spPr>
          <a:xfrm>
            <a:off x="-1" y="933450"/>
            <a:ext cx="5621155" cy="592455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0C1DE5-ADDC-2113-E3E1-C721750D7DCF}"/>
              </a:ext>
            </a:extLst>
          </p:cNvPr>
          <p:cNvSpPr/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6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DFAD95-32EE-11C4-6424-636B122529D7}"/>
              </a:ext>
            </a:extLst>
          </p:cNvPr>
          <p:cNvSpPr txBox="1"/>
          <p:nvPr/>
        </p:nvSpPr>
        <p:spPr>
          <a:xfrm>
            <a:off x="342900" y="112782"/>
            <a:ext cx="7981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Key Code: Hazard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15212D-037E-9469-ED29-6AF2F5E64A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51228" r="-577" b="10456"/>
          <a:stretch>
            <a:fillRect/>
          </a:stretch>
        </p:blipFill>
        <p:spPr>
          <a:xfrm>
            <a:off x="120314" y="2367814"/>
            <a:ext cx="5380523" cy="26276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0F84120-1059-9BBF-C595-9C239633CB21}"/>
              </a:ext>
            </a:extLst>
          </p:cNvPr>
          <p:cNvSpPr/>
          <p:nvPr/>
        </p:nvSpPr>
        <p:spPr>
          <a:xfrm>
            <a:off x="7323221" y="1348377"/>
            <a:ext cx="3619099" cy="1366788"/>
          </a:xfrm>
          <a:prstGeom prst="rect">
            <a:avLst/>
          </a:prstGeom>
          <a:solidFill>
            <a:srgbClr val="C37373">
              <a:alpha val="6313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B8FF70-57A1-8778-3E43-BE386A13686C}"/>
              </a:ext>
            </a:extLst>
          </p:cNvPr>
          <p:cNvSpPr/>
          <p:nvPr/>
        </p:nvSpPr>
        <p:spPr>
          <a:xfrm>
            <a:off x="7323220" y="3203519"/>
            <a:ext cx="3619099" cy="1366788"/>
          </a:xfrm>
          <a:prstGeom prst="rect">
            <a:avLst/>
          </a:prstGeom>
          <a:solidFill>
            <a:srgbClr val="C37373">
              <a:alpha val="6313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0B949F-AD2F-E3A4-5FC8-712A7FC9B648}"/>
              </a:ext>
            </a:extLst>
          </p:cNvPr>
          <p:cNvSpPr/>
          <p:nvPr/>
        </p:nvSpPr>
        <p:spPr>
          <a:xfrm>
            <a:off x="7323220" y="5058661"/>
            <a:ext cx="3619099" cy="1366788"/>
          </a:xfrm>
          <a:prstGeom prst="rect">
            <a:avLst/>
          </a:prstGeom>
          <a:solidFill>
            <a:srgbClr val="C37373">
              <a:alpha val="6313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E375F8-52D8-C829-AABB-5E67631897DB}"/>
              </a:ext>
            </a:extLst>
          </p:cNvPr>
          <p:cNvSpPr txBox="1"/>
          <p:nvPr/>
        </p:nvSpPr>
        <p:spPr>
          <a:xfrm>
            <a:off x="7491662" y="1390380"/>
            <a:ext cx="2829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00000"/>
                </a:solidFill>
              </a:rPr>
              <a:t>Check EX &amp; MEM stages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CCA6C7-0CEC-C086-F9DB-1472CC052063}"/>
              </a:ext>
            </a:extLst>
          </p:cNvPr>
          <p:cNvSpPr txBox="1"/>
          <p:nvPr/>
        </p:nvSpPr>
        <p:spPr>
          <a:xfrm>
            <a:off x="7491659" y="3235268"/>
            <a:ext cx="2829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00000"/>
                </a:solidFill>
              </a:rPr>
              <a:t>Source vs. Destination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7577EA-60BE-9C31-41D0-43427567CB14}"/>
              </a:ext>
            </a:extLst>
          </p:cNvPr>
          <p:cNvSpPr txBox="1"/>
          <p:nvPr/>
        </p:nvSpPr>
        <p:spPr>
          <a:xfrm>
            <a:off x="7491660" y="5140291"/>
            <a:ext cx="2829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00000"/>
                </a:solidFill>
              </a:rPr>
              <a:t>x0 is always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FB07C5-36C4-408D-6EDF-AE14664C583D}"/>
              </a:ext>
            </a:extLst>
          </p:cNvPr>
          <p:cNvSpPr txBox="1"/>
          <p:nvPr/>
        </p:nvSpPr>
        <p:spPr>
          <a:xfrm>
            <a:off x="7510913" y="1725910"/>
            <a:ext cx="32437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Any instruction still in the pipeline that hasn’t been written back can cause a hazard.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C6FEE-6A4A-5456-0A13-EA878A386AAB}"/>
              </a:ext>
            </a:extLst>
          </p:cNvPr>
          <p:cNvSpPr txBox="1"/>
          <p:nvPr/>
        </p:nvSpPr>
        <p:spPr>
          <a:xfrm>
            <a:off x="7491660" y="3604600"/>
            <a:ext cx="32437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If a source register of the new instruction matches a destination not yet written back, that’s a raw hazard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CFE204-5925-91CD-9057-89D475E1F47B}"/>
              </a:ext>
            </a:extLst>
          </p:cNvPr>
          <p:cNvSpPr txBox="1"/>
          <p:nvPr/>
        </p:nvSpPr>
        <p:spPr>
          <a:xfrm>
            <a:off x="7491660" y="5467620"/>
            <a:ext cx="3243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Writing x0 has no effect, so hazards involving it are always ignored</a:t>
            </a:r>
          </a:p>
        </p:txBody>
      </p:sp>
    </p:spTree>
    <p:extLst>
      <p:ext uri="{BB962C8B-B14F-4D97-AF65-F5344CB8AC3E}">
        <p14:creationId xmlns:p14="http://schemas.microsoft.com/office/powerpoint/2010/main" val="1766322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F6BDB-C191-B0CE-8B77-656D6443A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291122-E4DE-7080-8975-181ADB1E67A0}"/>
              </a:ext>
            </a:extLst>
          </p:cNvPr>
          <p:cNvSpPr/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6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29E29-1A73-9485-6CE1-140F0EF3F6AA}"/>
              </a:ext>
            </a:extLst>
          </p:cNvPr>
          <p:cNvSpPr txBox="1"/>
          <p:nvPr/>
        </p:nvSpPr>
        <p:spPr>
          <a:xfrm>
            <a:off x="342900" y="112782"/>
            <a:ext cx="6572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 &amp; Demo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F1BF34-BC6D-48FF-6115-90358EBB3D42}"/>
              </a:ext>
            </a:extLst>
          </p:cNvPr>
          <p:cNvSpPr/>
          <p:nvPr/>
        </p:nvSpPr>
        <p:spPr>
          <a:xfrm>
            <a:off x="342900" y="1504950"/>
            <a:ext cx="3638550" cy="4552950"/>
          </a:xfrm>
          <a:prstGeom prst="rect">
            <a:avLst/>
          </a:prstGeom>
          <a:solidFill>
            <a:srgbClr val="C37373">
              <a:alpha val="5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76F8FE-AC87-AD77-5FDE-D8A8633A884F}"/>
              </a:ext>
            </a:extLst>
          </p:cNvPr>
          <p:cNvSpPr/>
          <p:nvPr/>
        </p:nvSpPr>
        <p:spPr>
          <a:xfrm>
            <a:off x="342900" y="1504949"/>
            <a:ext cx="3638550" cy="622233"/>
          </a:xfrm>
          <a:prstGeom prst="rect">
            <a:avLst/>
          </a:prstGeom>
          <a:solidFill>
            <a:srgbClr val="6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CBD316-6191-5F73-9D0D-13968CD18C2D}"/>
              </a:ext>
            </a:extLst>
          </p:cNvPr>
          <p:cNvSpPr/>
          <p:nvPr/>
        </p:nvSpPr>
        <p:spPr>
          <a:xfrm>
            <a:off x="4276725" y="1504950"/>
            <a:ext cx="3638550" cy="4552950"/>
          </a:xfrm>
          <a:prstGeom prst="rect">
            <a:avLst/>
          </a:prstGeom>
          <a:solidFill>
            <a:srgbClr val="FFE9A3">
              <a:alpha val="3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2A6A4F-FF28-BAA5-B38A-FBF3C05E6123}"/>
              </a:ext>
            </a:extLst>
          </p:cNvPr>
          <p:cNvSpPr/>
          <p:nvPr/>
        </p:nvSpPr>
        <p:spPr>
          <a:xfrm>
            <a:off x="4276725" y="1514474"/>
            <a:ext cx="3638550" cy="612707"/>
          </a:xfrm>
          <a:prstGeom prst="rect">
            <a:avLst/>
          </a:prstGeom>
          <a:solidFill>
            <a:srgbClr val="CC9B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AA67D-D126-0DD6-1D21-7AD9D493C7C6}"/>
              </a:ext>
            </a:extLst>
          </p:cNvPr>
          <p:cNvSpPr/>
          <p:nvPr/>
        </p:nvSpPr>
        <p:spPr>
          <a:xfrm>
            <a:off x="8210550" y="1504950"/>
            <a:ext cx="3638550" cy="4552950"/>
          </a:xfrm>
          <a:prstGeom prst="rect">
            <a:avLst/>
          </a:prstGeom>
          <a:solidFill>
            <a:schemeClr val="tx2">
              <a:lumMod val="10000"/>
              <a:lumOff val="90000"/>
              <a:alpha val="6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0926BF-218F-AEF6-DD11-8793186245BB}"/>
              </a:ext>
            </a:extLst>
          </p:cNvPr>
          <p:cNvSpPr/>
          <p:nvPr/>
        </p:nvSpPr>
        <p:spPr>
          <a:xfrm>
            <a:off x="8210550" y="1514475"/>
            <a:ext cx="3638550" cy="61270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9B687A-2A62-1AF1-250F-D888753CFA27}"/>
              </a:ext>
            </a:extLst>
          </p:cNvPr>
          <p:cNvSpPr txBox="1"/>
          <p:nvPr/>
        </p:nvSpPr>
        <p:spPr>
          <a:xfrm>
            <a:off x="1366787" y="1617045"/>
            <a:ext cx="191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HAZARD-FREE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319D76-4FAE-F3CA-45A7-ACB3B3A1C26D}"/>
              </a:ext>
            </a:extLst>
          </p:cNvPr>
          <p:cNvSpPr txBox="1"/>
          <p:nvPr/>
        </p:nvSpPr>
        <p:spPr>
          <a:xfrm>
            <a:off x="5138286" y="1617045"/>
            <a:ext cx="191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BASIC HAZARDS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0CC92-19CC-59D2-149B-EC8A023E3440}"/>
              </a:ext>
            </a:extLst>
          </p:cNvPr>
          <p:cNvSpPr txBox="1"/>
          <p:nvPr/>
        </p:nvSpPr>
        <p:spPr>
          <a:xfrm>
            <a:off x="8978415" y="1631399"/>
            <a:ext cx="210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HEAVY HAZARDS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C6FAF-8DA0-D150-AA78-490A7F60EFFB}"/>
              </a:ext>
            </a:extLst>
          </p:cNvPr>
          <p:cNvSpPr txBox="1"/>
          <p:nvPr/>
        </p:nvSpPr>
        <p:spPr>
          <a:xfrm>
            <a:off x="539015" y="2230070"/>
            <a:ext cx="24640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no_hazards.txt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D8126B-60CA-30A0-0480-F544EEACABE3}"/>
              </a:ext>
            </a:extLst>
          </p:cNvPr>
          <p:cNvSpPr txBox="1"/>
          <p:nvPr/>
        </p:nvSpPr>
        <p:spPr>
          <a:xfrm>
            <a:off x="4451083" y="2219323"/>
            <a:ext cx="24640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basic_hazards.txt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8F8F2A-1D46-727D-0B64-FDC0E1FB16B0}"/>
              </a:ext>
            </a:extLst>
          </p:cNvPr>
          <p:cNvSpPr txBox="1"/>
          <p:nvPr/>
        </p:nvSpPr>
        <p:spPr>
          <a:xfrm>
            <a:off x="8424713" y="2219323"/>
            <a:ext cx="24640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heavy_hazards.txt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0A3F47-50A4-ADF5-F075-F3267B0207A0}"/>
              </a:ext>
            </a:extLst>
          </p:cNvPr>
          <p:cNvSpPr txBox="1"/>
          <p:nvPr/>
        </p:nvSpPr>
        <p:spPr>
          <a:xfrm>
            <a:off x="539015" y="2443010"/>
            <a:ext cx="1039528" cy="297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rgbClr val="600000"/>
                </a:solidFill>
              </a:rPr>
              <a:t>5</a:t>
            </a:r>
          </a:p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rgbClr val="600000"/>
                </a:solidFill>
              </a:rPr>
              <a:t>10</a:t>
            </a:r>
          </a:p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rgbClr val="600000"/>
                </a:solidFill>
              </a:rPr>
              <a:t>0</a:t>
            </a:r>
          </a:p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rgbClr val="600000"/>
                </a:solidFill>
              </a:rPr>
              <a:t>2.00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0E0C42-93F6-BBB3-0A90-0DFEFA56446F}"/>
              </a:ext>
            </a:extLst>
          </p:cNvPr>
          <p:cNvSpPr txBox="1"/>
          <p:nvPr/>
        </p:nvSpPr>
        <p:spPr>
          <a:xfrm>
            <a:off x="4451083" y="2388600"/>
            <a:ext cx="1073818" cy="297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rgbClr val="CC9B00"/>
                </a:solidFill>
              </a:rPr>
              <a:t>5</a:t>
            </a:r>
          </a:p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rgbClr val="CC9B00"/>
                </a:solidFill>
              </a:rPr>
              <a:t>18</a:t>
            </a:r>
          </a:p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rgbClr val="CC9B00"/>
                </a:solidFill>
              </a:rPr>
              <a:t>8</a:t>
            </a:r>
          </a:p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rgbClr val="CC9B00"/>
                </a:solidFill>
              </a:rPr>
              <a:t>3.60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37BCED-45C4-B49A-664F-CECBE60EF900}"/>
              </a:ext>
            </a:extLst>
          </p:cNvPr>
          <p:cNvSpPr txBox="1"/>
          <p:nvPr/>
        </p:nvSpPr>
        <p:spPr>
          <a:xfrm>
            <a:off x="8210550" y="2367517"/>
            <a:ext cx="1073818" cy="297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7</a:t>
            </a:r>
          </a:p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22</a:t>
            </a:r>
          </a:p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10</a:t>
            </a:r>
          </a:p>
          <a:p>
            <a:pPr algn="r">
              <a:lnSpc>
                <a:spcPct val="150000"/>
              </a:lnSpc>
            </a:pPr>
            <a:r>
              <a:rPr lang="en-US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302039-85CB-2F18-2EFC-496EB06C0042}"/>
              </a:ext>
            </a:extLst>
          </p:cNvPr>
          <p:cNvSpPr txBox="1"/>
          <p:nvPr/>
        </p:nvSpPr>
        <p:spPr>
          <a:xfrm>
            <a:off x="1527131" y="2660799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Instructions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B608DE-B523-50B2-DEAF-4CBF6A1ACC99}"/>
              </a:ext>
            </a:extLst>
          </p:cNvPr>
          <p:cNvSpPr txBox="1"/>
          <p:nvPr/>
        </p:nvSpPr>
        <p:spPr>
          <a:xfrm>
            <a:off x="1535130" y="3387636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Total Cycles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8BB490-9CAC-690E-B863-B4577CAEBE4F}"/>
              </a:ext>
            </a:extLst>
          </p:cNvPr>
          <p:cNvSpPr txBox="1"/>
          <p:nvPr/>
        </p:nvSpPr>
        <p:spPr>
          <a:xfrm>
            <a:off x="1535130" y="4103760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Stall Cycles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DF9D90-BA51-5804-4127-706C4AA15F4B}"/>
              </a:ext>
            </a:extLst>
          </p:cNvPr>
          <p:cNvSpPr txBox="1"/>
          <p:nvPr/>
        </p:nvSpPr>
        <p:spPr>
          <a:xfrm>
            <a:off x="1530317" y="4841310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CPI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C23C54-7D9C-24C4-AE24-EBB7E238A146}"/>
              </a:ext>
            </a:extLst>
          </p:cNvPr>
          <p:cNvSpPr txBox="1"/>
          <p:nvPr/>
        </p:nvSpPr>
        <p:spPr>
          <a:xfrm>
            <a:off x="5468955" y="4816360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CPI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42588B-2A76-1238-271B-73535F6A81BF}"/>
              </a:ext>
            </a:extLst>
          </p:cNvPr>
          <p:cNvSpPr txBox="1"/>
          <p:nvPr/>
        </p:nvSpPr>
        <p:spPr>
          <a:xfrm>
            <a:off x="9181544" y="4805283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CPI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D40BE7-6A3A-4211-AB41-942CE5C262BF}"/>
              </a:ext>
            </a:extLst>
          </p:cNvPr>
          <p:cNvSpPr txBox="1"/>
          <p:nvPr/>
        </p:nvSpPr>
        <p:spPr>
          <a:xfrm>
            <a:off x="5496928" y="4062725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Stall Cycles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B66E66-94A6-0251-82E3-8CDF080B18D7}"/>
              </a:ext>
            </a:extLst>
          </p:cNvPr>
          <p:cNvSpPr txBox="1"/>
          <p:nvPr/>
        </p:nvSpPr>
        <p:spPr>
          <a:xfrm>
            <a:off x="9181544" y="4062724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Stall Cycles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40BF60-2C46-843F-DFA2-103D9AF662CC}"/>
              </a:ext>
            </a:extLst>
          </p:cNvPr>
          <p:cNvSpPr txBox="1"/>
          <p:nvPr/>
        </p:nvSpPr>
        <p:spPr>
          <a:xfrm>
            <a:off x="5497747" y="3309090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Total Cycles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BBB5F5-B9BA-F8C0-00E8-C14DB3F28A76}"/>
              </a:ext>
            </a:extLst>
          </p:cNvPr>
          <p:cNvSpPr txBox="1"/>
          <p:nvPr/>
        </p:nvSpPr>
        <p:spPr>
          <a:xfrm>
            <a:off x="9181544" y="3323269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Total Cycles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6BF673-B122-3439-899C-FDCA254454BC}"/>
              </a:ext>
            </a:extLst>
          </p:cNvPr>
          <p:cNvSpPr txBox="1"/>
          <p:nvPr/>
        </p:nvSpPr>
        <p:spPr>
          <a:xfrm>
            <a:off x="5496928" y="2619694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Instructions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15C525-FB21-FA2F-1913-709B3F039C11}"/>
              </a:ext>
            </a:extLst>
          </p:cNvPr>
          <p:cNvSpPr txBox="1"/>
          <p:nvPr/>
        </p:nvSpPr>
        <p:spPr>
          <a:xfrm>
            <a:off x="9181544" y="2595504"/>
            <a:ext cx="2165684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Instructions</a:t>
            </a:r>
          </a:p>
        </p:txBody>
      </p:sp>
    </p:spTree>
    <p:extLst>
      <p:ext uri="{BB962C8B-B14F-4D97-AF65-F5344CB8AC3E}">
        <p14:creationId xmlns:p14="http://schemas.microsoft.com/office/powerpoint/2010/main" val="2353154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54FF5-6B18-F909-221E-18DCE52E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C3AC29-1E0D-3A65-E48A-D72FF0E19183}"/>
              </a:ext>
            </a:extLst>
          </p:cNvPr>
          <p:cNvSpPr/>
          <p:nvPr/>
        </p:nvSpPr>
        <p:spPr>
          <a:xfrm>
            <a:off x="0" y="0"/>
            <a:ext cx="12192000" cy="933450"/>
          </a:xfrm>
          <a:prstGeom prst="rect">
            <a:avLst/>
          </a:prstGeom>
          <a:solidFill>
            <a:srgbClr val="6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96164-2D65-9A24-7D64-99571349ACC3}"/>
              </a:ext>
            </a:extLst>
          </p:cNvPr>
          <p:cNvSpPr txBox="1"/>
          <p:nvPr/>
        </p:nvSpPr>
        <p:spPr>
          <a:xfrm>
            <a:off x="342900" y="112782"/>
            <a:ext cx="6572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Observations &amp; Takeaways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E8960E-6366-253B-636D-DFC35DFCA7F7}"/>
              </a:ext>
            </a:extLst>
          </p:cNvPr>
          <p:cNvSpPr/>
          <p:nvPr/>
        </p:nvSpPr>
        <p:spPr>
          <a:xfrm>
            <a:off x="546100" y="1320800"/>
            <a:ext cx="5378450" cy="2317750"/>
          </a:xfrm>
          <a:prstGeom prst="rect">
            <a:avLst/>
          </a:prstGeom>
          <a:solidFill>
            <a:srgbClr val="C37373">
              <a:alpha val="34902"/>
            </a:srgbClr>
          </a:solidFill>
          <a:ln w="28575">
            <a:solidFill>
              <a:srgbClr val="6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3D3E1D-5973-6114-0568-73BE4C9774B7}"/>
              </a:ext>
            </a:extLst>
          </p:cNvPr>
          <p:cNvSpPr/>
          <p:nvPr/>
        </p:nvSpPr>
        <p:spPr>
          <a:xfrm>
            <a:off x="546100" y="3911600"/>
            <a:ext cx="5378450" cy="2317750"/>
          </a:xfrm>
          <a:prstGeom prst="rect">
            <a:avLst/>
          </a:prstGeom>
          <a:solidFill>
            <a:srgbClr val="EACECE"/>
          </a:solidFill>
          <a:ln w="28575">
            <a:solidFill>
              <a:srgbClr val="6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84CB6A-869A-3705-570C-F5E6E2D52B51}"/>
              </a:ext>
            </a:extLst>
          </p:cNvPr>
          <p:cNvSpPr/>
          <p:nvPr/>
        </p:nvSpPr>
        <p:spPr>
          <a:xfrm>
            <a:off x="6330950" y="1320800"/>
            <a:ext cx="5378450" cy="2317750"/>
          </a:xfrm>
          <a:prstGeom prst="rect">
            <a:avLst/>
          </a:prstGeom>
          <a:solidFill>
            <a:srgbClr val="EACECE"/>
          </a:solidFill>
          <a:ln w="28575">
            <a:solidFill>
              <a:srgbClr val="6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179A6F-42AA-FD28-984C-7F2C2758AF27}"/>
              </a:ext>
            </a:extLst>
          </p:cNvPr>
          <p:cNvSpPr/>
          <p:nvPr/>
        </p:nvSpPr>
        <p:spPr>
          <a:xfrm>
            <a:off x="6330950" y="3911600"/>
            <a:ext cx="5378450" cy="2317750"/>
          </a:xfrm>
          <a:prstGeom prst="rect">
            <a:avLst/>
          </a:prstGeom>
          <a:solidFill>
            <a:srgbClr val="EACECE"/>
          </a:solidFill>
          <a:ln w="28575">
            <a:solidFill>
              <a:srgbClr val="6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E8A1E-8BF8-6DC7-A3A7-974BBBA720DB}"/>
              </a:ext>
            </a:extLst>
          </p:cNvPr>
          <p:cNvSpPr txBox="1"/>
          <p:nvPr/>
        </p:nvSpPr>
        <p:spPr>
          <a:xfrm>
            <a:off x="812800" y="1465728"/>
            <a:ext cx="104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600000"/>
                </a:solidFill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48AED-911B-C830-6106-9204D5BAC90C}"/>
              </a:ext>
            </a:extLst>
          </p:cNvPr>
          <p:cNvSpPr txBox="1"/>
          <p:nvPr/>
        </p:nvSpPr>
        <p:spPr>
          <a:xfrm>
            <a:off x="6635750" y="1453028"/>
            <a:ext cx="104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600000"/>
                </a:solidFill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86C940-8EBA-F950-92C2-5274320A61D1}"/>
              </a:ext>
            </a:extLst>
          </p:cNvPr>
          <p:cNvSpPr txBox="1"/>
          <p:nvPr/>
        </p:nvSpPr>
        <p:spPr>
          <a:xfrm>
            <a:off x="812800" y="4078630"/>
            <a:ext cx="104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600000"/>
                </a:solidFill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CFEDFC-6EAA-E68C-3CCA-458DFCA74766}"/>
              </a:ext>
            </a:extLst>
          </p:cNvPr>
          <p:cNvSpPr txBox="1"/>
          <p:nvPr/>
        </p:nvSpPr>
        <p:spPr>
          <a:xfrm>
            <a:off x="6534150" y="4025900"/>
            <a:ext cx="1047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600000"/>
                </a:solidFill>
              </a:rPr>
              <a:t>04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7D4B2D-DDD0-650C-0D74-82E0F3B727C8}"/>
              </a:ext>
            </a:extLst>
          </p:cNvPr>
          <p:cNvSpPr txBox="1"/>
          <p:nvPr/>
        </p:nvSpPr>
        <p:spPr>
          <a:xfrm>
            <a:off x="1654175" y="1511300"/>
            <a:ext cx="394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Dependent chains cascade stalls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DBF306-3093-5BF6-1050-221F595534CA}"/>
              </a:ext>
            </a:extLst>
          </p:cNvPr>
          <p:cNvSpPr txBox="1"/>
          <p:nvPr/>
        </p:nvSpPr>
        <p:spPr>
          <a:xfrm>
            <a:off x="7505702" y="1511299"/>
            <a:ext cx="394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Same instruction count ≠ same performance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954200-71F3-A868-EB0F-E0BAC321F96E}"/>
              </a:ext>
            </a:extLst>
          </p:cNvPr>
          <p:cNvSpPr txBox="1"/>
          <p:nvPr/>
        </p:nvSpPr>
        <p:spPr>
          <a:xfrm>
            <a:off x="1603375" y="4167014"/>
            <a:ext cx="394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Forwarding would eliminate most stalls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D3C9BC-B1B6-47FC-8A03-F8534DD43C8A}"/>
              </a:ext>
            </a:extLst>
          </p:cNvPr>
          <p:cNvSpPr txBox="1"/>
          <p:nvPr/>
        </p:nvSpPr>
        <p:spPr>
          <a:xfrm>
            <a:off x="7378700" y="4097377"/>
            <a:ext cx="3949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Parsing edge cases matter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689526-8A9C-04BE-4F13-10B06E5F4655}"/>
              </a:ext>
            </a:extLst>
          </p:cNvPr>
          <p:cNvSpPr txBox="1"/>
          <p:nvPr/>
        </p:nvSpPr>
        <p:spPr>
          <a:xfrm>
            <a:off x="812800" y="2532797"/>
            <a:ext cx="50133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When every instruction on the previous one (</a:t>
            </a:r>
            <a:r>
              <a:rPr lang="en-US" sz="1400" dirty="0" err="1"/>
              <a:t>heavy_hazards</a:t>
            </a:r>
            <a:r>
              <a:rPr lang="en-US" sz="1400" dirty="0"/>
              <a:t>), each pair adds 2 stall cycles. Additionally, those stalls compound across the whole program.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2E0930-87B5-6B0D-1D8B-44D00B33FE5B}"/>
              </a:ext>
            </a:extLst>
          </p:cNvPr>
          <p:cNvSpPr txBox="1"/>
          <p:nvPr/>
        </p:nvSpPr>
        <p:spPr>
          <a:xfrm>
            <a:off x="6632575" y="2532797"/>
            <a:ext cx="50133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no_hazards</a:t>
            </a:r>
            <a:r>
              <a:rPr lang="en-US" sz="1400" dirty="0"/>
              <a:t> and </a:t>
            </a:r>
            <a:r>
              <a:rPr lang="en-US" sz="1400" dirty="0" err="1"/>
              <a:t>basic_hazards</a:t>
            </a:r>
            <a:r>
              <a:rPr lang="en-US" sz="1400" dirty="0"/>
              <a:t> both have 5 instructions, yet take 10 vs. 18 cycles. That is an 80% difference caused by data dependencies.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CA5DAA-9DBA-81B8-05CC-A7B0A36F3160}"/>
              </a:ext>
            </a:extLst>
          </p:cNvPr>
          <p:cNvSpPr txBox="1"/>
          <p:nvPr/>
        </p:nvSpPr>
        <p:spPr>
          <a:xfrm>
            <a:off x="812799" y="5121084"/>
            <a:ext cx="50133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All detected hazards are 1-2 cycle gaps. Data forwarding (bypassing) would resolve them without stalling. This is a key real-world CPU optimization.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4B1A2C-92AF-5257-4FE8-6F467EEF2C02}"/>
              </a:ext>
            </a:extLst>
          </p:cNvPr>
          <p:cNvSpPr txBox="1"/>
          <p:nvPr/>
        </p:nvSpPr>
        <p:spPr>
          <a:xfrm>
            <a:off x="6610350" y="4832092"/>
            <a:ext cx="50133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Handling commas, parentheses (offset addressing), and comments correctly was essential for the simulator to work on real RISC-V assembly syntax.</a:t>
            </a:r>
          </a:p>
        </p:txBody>
      </p:sp>
    </p:spTree>
    <p:extLst>
      <p:ext uri="{BB962C8B-B14F-4D97-AF65-F5344CB8AC3E}">
        <p14:creationId xmlns:p14="http://schemas.microsoft.com/office/powerpoint/2010/main" val="796992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Retrospect">
  <a:themeElements>
    <a:clrScheme name="Custom 1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5ADAD"/>
      </a:accent1>
      <a:accent2>
        <a:srgbClr val="6C0A0A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1058</TotalTime>
  <Words>454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Calibri Light</vt:lpstr>
      <vt:lpstr>Wingdings</vt:lpstr>
      <vt:lpstr>Office Theme</vt:lpstr>
      <vt:lpstr>Retrospect</vt:lpstr>
      <vt:lpstr>Pipeline Hazard Detection Simulator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Jessica Webb</dc:creator>
  <cp:lastModifiedBy>Jessica Webb</cp:lastModifiedBy>
  <cp:revision>1</cp:revision>
  <dcterms:created xsi:type="dcterms:W3CDTF">2026-05-04T01:43:19Z</dcterms:created>
  <dcterms:modified xsi:type="dcterms:W3CDTF">2026-05-04T19:23:19Z</dcterms:modified>
</cp:coreProperties>
</file>